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one-line recap of Session 1 (we threat-modeled a lab token and deployed one live on Hardhat). Then revive last week's tease: 'I promised you an attack class from the SIEM world that maps onto token issuance — hold it, we walk into it when we design rewards.' Tonight is high-level on purpose: concepts, the toolkit, and a design challenge they own. No recordings, notes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map so the room never feels lost. We end on the design challenge — that's the part they take home. Keep this slide to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first, then unfold: 'Web2 is a bank — you trust the institution to hold your records. Web3 is a shared notebook everyone has a copy of, where you can only add lines, never erase.' Land the last bullet on the right — every page is public, so attackers read your logic before you ship. That's the security hook for the whole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consequences for security people. The 'billboard' rule is the one to repeat — it pre-empts the classic mistake of treating a public chain as private storage. ANCHOR THE BOSS here: '[Boss], from a SIEM seat, what changes when your audit log is public and append-only by default?' Credit his answer by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Point out the top row first — a React dev already owns the frontend. Then the swaps: server→contract, database→ledger, login→key. This de-scares Web3.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reassurance slide. The goal is to convert 'a whole new world' into 'three components got swapped.' Lowers the intimidation, raises confidence going into the build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a transaction live with your finger: user signs in the wallet → frontend sends it → RPC node relays it → contract runs on-chain. Note that the frontend and even the node are off-chain trust points (a malicious frontend can lie about what you're signing). Most 'dApps' are ~80% off-chain — knowing the on-chain 20% is the security job. This is the publicly-defensible off-chain-first philosophy; let them feel it, don't hand them a UNL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before detail. Don't read every tool — just name the categories and that security gets its own box because this is a security-led cohort. The amber security card foreshadows audit week (Session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reference slide — tell them to photograph it. Two credibility lines: (1) Foundry overtaking Hardhat is the real 2024-26 shift; (2) security tools belong in CI, which is exactly how auditors tell serious teams from hobbyists. The 'Legacy' row signals you know what's dated — cheap authority (Cialdini, relevant expertise).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forward to Session 7 (peer audit week). ANCHOR THE BOSS: '[Boss], in SIEM terms, static analysis in CI is basically a detection rule that fires before deploy — what's the equivalent you'd want on a SOC pipeline?' Public credit for his framing. Hold-back reminder: do NOT reveal the criticality-binding research angle here; that's 1:1 content, not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dead simple: a token is a ledger in a contract. Our Lab Reward Token is an ERC-20. Plant the seed that reputation might be better as non-fungible (ERC-721) — but DON'T resolve it; that's their design challenge two slides from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levers are the research scaffold for their assignment. Pose each as an open question — do NOT give your UNL answers (payout amounts, governance composition, the real sink). The Goodhart line is the trap most reward systems fall into; flag it, let them wrestle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night (Aronson: people defend what they built). They design it, they own it, they get invested in the cohort succeeding — patron-making by genuine upskilling. Keep every prompt an OPEN question; your real UNL implementation stays off the table. If anyone pushes 'what's the actual UNL plan?', the line, warmly, identical every time: 'That's part of my research — happy to discuss generic principles, but the specific UNL implementation goes through proper channels.' Have them claim a piece to own and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tease, then walk — don't explain it (Greene Law 6, court attention via mystery). LOG the tease tonight so you actually pay it off next session (unauthorized-mint / free-money-printer bug). After session: written recap naming every contributor; 2-line DM to the boss ('Appreciated you being there — was the SIEM/CI angle useful, or want a different lens next week?'); push repo + assignment brief to Slack.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27648" y="457200"/>
            <a:ext cx="658368" cy="658368"/>
          </a:xfrm>
          <a:prstGeom prst="ellipse">
            <a:avLst/>
          </a:prstGeom>
          <a:solidFill>
            <a:srgbClr val="1220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8824" y="628376"/>
            <a:ext cx="316017" cy="31601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96328" y="457200"/>
            <a:ext cx="658368" cy="658368"/>
          </a:xfrm>
          <a:prstGeom prst="ellipse">
            <a:avLst/>
          </a:prstGeom>
          <a:solidFill>
            <a:srgbClr val="12203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04" y="628376"/>
            <a:ext cx="316017" cy="31601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65008" y="457200"/>
            <a:ext cx="658368" cy="658368"/>
          </a:xfrm>
          <a:prstGeom prst="ellipse">
            <a:avLst/>
          </a:prstGeom>
          <a:solidFill>
            <a:srgbClr val="12203A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184" y="628376"/>
            <a:ext cx="316017" cy="3160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REWARD TOKEN COHORT  ·  SESSION 2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48640" y="22860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Web2 to Web3: Building dApps</a:t>
            </a:r>
            <a:endParaRPr lang="en-US" sz="4400" dirty="0"/>
          </a:p>
        </p:txBody>
      </p:sp>
      <p:sp>
        <p:nvSpPr>
          <p:cNvPr id="10" name="Text 5"/>
          <p:cNvSpPr/>
          <p:nvPr/>
        </p:nvSpPr>
        <p:spPr>
          <a:xfrm>
            <a:off x="548640" y="33101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dApp actually is, the tools we build with, and designing our first reward system.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4864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 cybersecurity research cohort  ·  security-led  ·  notes only, no recordings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 tonight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0F7FA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1430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week: 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threat-modeled a lab token and deployed one live on Hardhat. Tonight we zoom out.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2084832"/>
            <a:ext cx="420624" cy="42062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" y="2194194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880" y="19659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188720" y="19659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shift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Web2 vs Web3 — in one analogy you'll remember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73405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" y="2852928"/>
            <a:ext cx="420624" cy="42062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54" y="2962290"/>
            <a:ext cx="201900" cy="201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83880" y="27340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1188720" y="273405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you build a dApp, and what doesn't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57200" y="350215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1792" y="3621024"/>
            <a:ext cx="420624" cy="42062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54" y="3730386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83880" y="350215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1188720" y="350215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libraries and tools we'll actually build with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57200" y="427024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21792" y="4389120"/>
            <a:ext cx="420624" cy="42062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54" y="4498482"/>
            <a:ext cx="201900" cy="2019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83880" y="42702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1188720" y="427024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tokenomics 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rewards work — plus your design challenge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build an app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417320"/>
            <a:ext cx="640080" cy="640080"/>
          </a:xfrm>
          <a:prstGeom prst="ellipse">
            <a:avLst/>
          </a:prstGeom>
          <a:solidFill>
            <a:srgbClr val="E8EDF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3" y="15837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481328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31520" y="22860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trust the institution.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records live in a back office you never see.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issue your login — and can reset or freeze it.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change the terms, or shut it down.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because you trust the company.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709160" y="118872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65192" y="1417320"/>
            <a:ext cx="640080" cy="64008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613" y="15837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33288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733288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notebook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983480" y="22860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keeps their own copy of the same notebook.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add new lines — never erase old ones.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past line and every other copy disagrees.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manager owns it — the notebook itself is the authority.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every page is public — including to attackers.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changed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Web2 moves trust to a company.  </a:t>
            </a:r>
            <a:pPr indent="0" marL="0">
              <a:buNone/>
            </a:pPr>
            <a:r>
              <a:rPr lang="en-US" sz="2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moves it to public code.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2724912"/>
            <a:ext cx="548640" cy="54864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2867558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forever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85800" y="3694176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integrity machine, not a secrecy one. Never put anything on-chain you wouldn't put on a billboard.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00400" y="251460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29000" y="2724912"/>
            <a:ext cx="548640" cy="54864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646" y="2867558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2900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reset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3429000" y="3694176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 is the whole identity. Lose it, you're gone. Steal it, you're someone else.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943600" y="251460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72200" y="2724912"/>
            <a:ext cx="548640" cy="54864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846" y="2867558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7220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referee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172200" y="3694176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the final word. So the code has to be right — which is why we audit.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stack, side by side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063240"/>
                <a:gridCol w="3383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Web3 dApp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HTML / CSS / 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— React + viem / wagmi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/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 + password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+ a 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server (Node, Django)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smart contract (Solidity)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Postgres, Mongo — you can edit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blockchain — public, permanent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bridge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(frontend talks to server)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 node + viem / ethers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Azure / GCP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hosts contract; CDN / IPFS hosts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/ card processor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— the token IS the money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frontend skills. Everything underneath gets swapped.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layers actually changed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24328" cy="320040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63040" y="1508760"/>
            <a:ext cx="603504" cy="60350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951" y="1665671"/>
            <a:ext cx="289682" cy="289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2860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257860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" y="288950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85800" y="3346704"/>
            <a:ext cx="216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box you control → public, immutable code anyone can read and call.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280160"/>
            <a:ext cx="2624328" cy="320040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06240" y="1508760"/>
            <a:ext cx="603504" cy="60350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151" y="1665671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22860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83280" y="257860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3383280" y="288950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429000" y="3346704"/>
            <a:ext cx="216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rows you own → a permanent public ledger you can't quietly rewrite.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43600" y="1280160"/>
            <a:ext cx="2624328" cy="320040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0" y="1508760"/>
            <a:ext cx="603504" cy="60350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351" y="166567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22860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126480" y="257860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126480" y="288950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172200" y="3346704"/>
            <a:ext cx="216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resettable account → one secret, no password reset, no recovery.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React frontend? Barely changes. Web3 is less new than it looks.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dApp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 ·  you build &amp; host this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029968"/>
            <a:ext cx="457200" cy="45720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214884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5420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331720" y="18745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88920" y="2029968"/>
            <a:ext cx="457200" cy="45720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214884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77440" y="25420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(MetaMask)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023360" y="18745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480560" y="2029968"/>
            <a:ext cx="457200" cy="45720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14884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69080" y="25420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viem)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9933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368503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Shape 15"/>
          <p:cNvSpPr/>
          <p:nvPr/>
        </p:nvSpPr>
        <p:spPr>
          <a:xfrm>
            <a:off x="5897880" y="187452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199632" y="2029968"/>
            <a:ext cx="457200" cy="457200"/>
          </a:xfrm>
          <a:prstGeom prst="ellipse">
            <a:avLst/>
          </a:prstGeom>
          <a:solidFill>
            <a:srgbClr val="12203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214884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97880" y="254203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(Alchemy)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532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→</a:t>
            </a:r>
            <a:endParaRPr lang="en-US" sz="2600" dirty="0"/>
          </a:p>
        </p:txBody>
      </p:sp>
      <p:sp>
        <p:nvSpPr>
          <p:cNvPr id="26" name="Text 19"/>
          <p:cNvSpPr/>
          <p:nvPr/>
        </p:nvSpPr>
        <p:spPr>
          <a:xfrm>
            <a:off x="696772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→</a:t>
            </a:r>
            <a:endParaRPr lang="en-US" sz="2600" dirty="0"/>
          </a:p>
        </p:txBody>
      </p:sp>
      <p:sp>
        <p:nvSpPr>
          <p:cNvPr id="27" name="Shape 20"/>
          <p:cNvSpPr/>
          <p:nvPr/>
        </p:nvSpPr>
        <p:spPr>
          <a:xfrm>
            <a:off x="7269480" y="1325880"/>
            <a:ext cx="1417320" cy="246888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26948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269480" y="16642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hosts this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7726680" y="1993392"/>
            <a:ext cx="502920" cy="5029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7439" y="2124151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87768" y="2542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(Solidity)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7726680" y="306324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3182112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287768" y="35112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</p:sp>
      <p:sp>
        <p:nvSpPr>
          <p:cNvPr id="37" name="Text 28"/>
          <p:cNvSpPr/>
          <p:nvPr/>
        </p:nvSpPr>
        <p:spPr>
          <a:xfrm>
            <a:off x="640080" y="40233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security discipline is one question:  </a:t>
            </a:r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actually needs to be on-chain?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dApp builder's toolkit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435608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05" y="1568745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01168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2313432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· Vyper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542032" y="1234440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0" y="1435608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337" y="1568745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24912" y="201168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724912" y="2313432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26864" y="1234440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28032" y="1435608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69" y="1568745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09744" y="201168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09744" y="2313432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· Hardhat · Remix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711696" y="1234440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912864" y="1435608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001" y="1568745"/>
            <a:ext cx="245791" cy="2457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94576" y="201168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894576" y="2313432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viem · wagmi · RainbowKit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2953512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58368" y="3154680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05" y="3287817"/>
            <a:ext cx="245791" cy="24579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373075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4032504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· WalletConnect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2542032" y="2953512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2743200" y="3154680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6337" y="3287817"/>
            <a:ext cx="245791" cy="24579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724912" y="373075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RPC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2724912" y="4032504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Alchemy · Infura · QuickNode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4626864" y="2953512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4828032" y="3154680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69" y="3287817"/>
            <a:ext cx="245791" cy="245791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809744" y="373075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4809744" y="4032504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· IPFS · Arweave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6711696" y="2953512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912864" y="3154680"/>
            <a:ext cx="512064" cy="512064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6001" y="3287817"/>
            <a:ext cx="245791" cy="245791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894576" y="373075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6894576" y="4032504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· Aderyn · Echidna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stack — what we'll actually use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429000"/>
                <a:gridCol w="310896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/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Solidity + OpenZeppelin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standard; audited primitives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&amp;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(forge / anvil) + Hardhat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now leads; Hardhat still common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Remix 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Browser, zero 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↔ 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viem + wagmi (React hooks)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ethers.js for most new builds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connect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MetaMask · WalletConnect · RainbowKit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 / 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Alchemy · Infura · QuickNode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run your own (Geth / Reth)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on-chain data without pain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Slither · Aderyn · Echidna · OZ Defender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CI — not the night before launch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ERC-20 · 721 · 1155 · 4337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Tokens, NFTs, multi-token, smart 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Truffle · Ganache · web3.js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them; don't start new work 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1220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 is our home-field advantage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 code earns a different audit when it ships with static analysis and fuzzing already in CI. This is where a security-led cohort pulls ahead.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1975104" cy="2606040"/>
          </a:xfrm>
          <a:prstGeom prst="roundRect">
            <a:avLst>
              <a:gd name="adj" fmla="val 370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208483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05" y="2217969"/>
            <a:ext cx="245791" cy="2457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670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3127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· Aderyn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3419856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known bug classes automatically, every commit.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42032" y="1874520"/>
            <a:ext cx="1975104" cy="2606040"/>
          </a:xfrm>
          <a:prstGeom prst="roundRect">
            <a:avLst>
              <a:gd name="adj" fmla="val 370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0" y="208483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337" y="2217969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24912" y="2670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 &amp; invariants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724912" y="3127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Echidna · Foundry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724912" y="3419856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breakage you didn't think to test for.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26864" y="1874520"/>
            <a:ext cx="1975104" cy="2606040"/>
          </a:xfrm>
          <a:prstGeom prst="roundRect">
            <a:avLst>
              <a:gd name="adj" fmla="val 370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28032" y="208483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69" y="2217969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9744" y="2670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809744" y="3127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 Defender · Tenderly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809744" y="3419856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contract once it's live in the wild.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711696" y="1874520"/>
            <a:ext cx="1975104" cy="2606040"/>
          </a:xfrm>
          <a:prstGeom prst="roundRect">
            <a:avLst>
              <a:gd name="adj" fmla="val 3704"/>
            </a:avLst>
          </a:prstGeom>
          <a:solidFill>
            <a:srgbClr val="12203A"/>
          </a:solidFill>
          <a:ln/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12864" y="2084832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001" y="2217969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94576" y="2670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grounds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894576" y="3127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Ethernaut · DVDeFi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894576" y="3419856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CTFs that teach the attacks by making you run them.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token actually 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0F7F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18872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just a smart contract that keeps a ledger of who owns how much.  </a:t>
            </a:r>
            <a:pPr indent="0" marL="0">
              <a:buNone/>
            </a:pPr>
            <a:r>
              <a:rPr lang="en-US" sz="14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idea.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262432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2359152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37" y="2492289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3774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Fungible   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4088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units. Points, currency — and reward tokens like ours.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00400" y="2148840"/>
            <a:ext cx="262432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29000" y="2359152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137" y="2492289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69080" y="23774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Non-fungible   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447288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items. Certificates, credentials, badges, reputation.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943600" y="2148840"/>
            <a:ext cx="2624328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72200" y="2359152"/>
            <a:ext cx="512064" cy="512064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337" y="2492289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23774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Multi-token   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190488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types in one contract. Mixed or game-like systems.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 by purpose:   </a:t>
            </a:r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(lets you do something)   vs   </a:t>
            </a:r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(lets you vote on something).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 — the six levers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6656" y="1453896"/>
            <a:ext cx="530352" cy="53035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8" y="1591788"/>
            <a:ext cx="254569" cy="2545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90472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94944" y="2075688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inflationary, or deflationary?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36976" y="123444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56432" y="1453896"/>
            <a:ext cx="530352" cy="53035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324" y="1591788"/>
            <a:ext cx="254569" cy="2545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51376" y="1490472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474720" y="2075688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earns tokens — and how do you stop gaming?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016752" y="123444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36208" y="1453896"/>
            <a:ext cx="530352" cy="53035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100" y="1591788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31152" y="1490472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/ demand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254496" y="2075688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anyone actually want to hold it?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57200" y="2935224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6656" y="3154680"/>
            <a:ext cx="530352" cy="53035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48" y="3292572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19125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94944" y="3776472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tokens leave. No sink → value inflates to zero.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236976" y="2935224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456432" y="3154680"/>
            <a:ext cx="530352" cy="53035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4324" y="3292572"/>
            <a:ext cx="254569" cy="25456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151376" y="319125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alignment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3474720" y="3776472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reward drive the behavior you wanted?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016752" y="2935224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236208" y="3154680"/>
            <a:ext cx="530352" cy="53035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100" y="3292572"/>
            <a:ext cx="254569" cy="25456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31152" y="319125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6254496" y="3776472"/>
            <a:ext cx="225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allowed to change the rules later?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alignment lever — Goodhart's law: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metric becomes a target, people game the metric instead of doing the work.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challenge: design the reward system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18872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token-based reward system for a university cybersecurity lab.  </a:t>
            </a:r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architects — bring a proposal next session.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121408"/>
            <a:ext cx="4069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228600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048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304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(must-haves)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13232" y="281635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genuine security work — bugs, audits, writeups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gaming, Sybil, and collusion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real sink an institution can actually control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accidentally build a financial security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17720" y="2121408"/>
            <a:ext cx="4069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F172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18888" y="2286000"/>
            <a:ext cx="457200" cy="457200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048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67528" y="2304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these (open questions)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73752" y="281635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Fungible points or non-fungible reputation — or both?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supply or mint-on-demand? What breaks each way?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Sybil-resist on a campus?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rules would a campus token trip? Go find them.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/>
        </p:spPr>
      </p:sp>
      <p:sp>
        <p:nvSpPr>
          <p:cNvPr id="18" name="Text 13"/>
          <p:cNvSpPr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+ a simple diagram. Present it next week — be ready to defend your choices.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1220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1316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2918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12203A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472184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32588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   </a:t>
            </a:r>
            <a:pPr indent="0" marL="0">
              <a:buNone/>
            </a:pPr>
            <a:r>
              <a:rPr lang="en-US" sz="1250" dirty="0">
                <a:solidFill>
                  <a:srgbClr val="CA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(forge, anvil), keep Hardhat, MetaMask, and a free Alchemy or Infura key.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194560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12203A"/>
          </a:solidFill>
          <a:ln/>
        </p:spPr>
      </p:sp>
      <p:sp>
        <p:nvSpPr>
          <p:cNvPr id="10" name="Shape 6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19456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 </a:t>
            </a:r>
            <a:pPr indent="0" marL="0">
              <a:buNone/>
            </a:pPr>
            <a:r>
              <a:rPr lang="en-US" sz="1250" dirty="0">
                <a:solidFill>
                  <a:srgbClr val="CA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OpenZeppelin ERC-20 source. It's short — read it like a security reviewer.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063240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12203A"/>
          </a:solidFill>
          <a:ln/>
        </p:spPr>
      </p:sp>
      <p:sp>
        <p:nvSpPr>
          <p:cNvPr id="14" name="Shape 9"/>
          <p:cNvSpPr/>
          <p:nvPr/>
        </p:nvSpPr>
        <p:spPr>
          <a:xfrm>
            <a:off x="640080" y="3209544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32841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06324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   </a:t>
            </a:r>
            <a:pPr indent="0" marL="0">
              <a:buNone/>
            </a:pPr>
            <a:r>
              <a:rPr lang="en-US" sz="1250" dirty="0">
                <a:solidFill>
                  <a:srgbClr val="CA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reward-system proposal. One page + a diagram, ready to defend.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402336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2A1E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58368" y="4187952"/>
            <a:ext cx="502920" cy="502920"/>
          </a:xfrm>
          <a:prstGeom prst="ellipse">
            <a:avLst/>
          </a:prstGeom>
          <a:solidFill>
            <a:srgbClr val="3A2A0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" y="4318711"/>
            <a:ext cx="241402" cy="24140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02336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</a:t>
            </a:r>
            <a:pPr indent="0" marL="0">
              <a:buNone/>
            </a:pPr>
            <a:r>
              <a:rPr lang="en-US" sz="125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the token from scratch — and I'll show you the one line almost everyone gets wrong, the one that quietly turns a reward contract into a free money printer. I've seen the cleanup.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Web2 to Web3: Building dApps</dc:title>
  <dc:subject>PptxGenJS Presentation</dc:subject>
  <dc:creator>Lab Reward Token Cohort</dc:creator>
  <cp:lastModifiedBy>Lab Reward Token Cohort</cp:lastModifiedBy>
  <cp:revision>1</cp:revision>
  <dcterms:created xsi:type="dcterms:W3CDTF">2026-06-19T15:27:18Z</dcterms:created>
  <dcterms:modified xsi:type="dcterms:W3CDTF">2026-06-19T15:27:18Z</dcterms:modified>
</cp:coreProperties>
</file>